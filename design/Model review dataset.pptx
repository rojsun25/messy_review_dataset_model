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8" r:id="rId5"/>
    <p:sldId id="259" r:id="rId6"/>
    <p:sldId id="257" r:id="rId7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E70D994-F2E9-4088-A77B-4C6810BB7762}" v="94" dt="2025-12-30T14:07:50.1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>
        <p:scale>
          <a:sx n="125" d="100"/>
          <a:sy n="125" d="100"/>
        </p:scale>
        <p:origin x="460" y="8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30/12/2025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30/12/2025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30/12/2025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30/12/2025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30/12/2025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30/12/2025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30/12/2025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30/12/2025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30/12/2025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30/12/2025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30/12/2025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30/12/2025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A0529E-41E7-4B0B-7B38-2E194C7E1E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20BC6E6E-C803-1B8B-A1AE-BC0104196569}"/>
              </a:ext>
            </a:extLst>
          </p:cNvPr>
          <p:cNvSpPr/>
          <p:nvPr/>
        </p:nvSpPr>
        <p:spPr>
          <a:xfrm>
            <a:off x="2323250" y="2865575"/>
            <a:ext cx="1273212" cy="47375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Ingest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BE5AB86-6FF3-5DEB-9F93-40DF6EF69CA2}"/>
              </a:ext>
            </a:extLst>
          </p:cNvPr>
          <p:cNvCxnSpPr>
            <a:cxnSpLocks/>
          </p:cNvCxnSpPr>
          <p:nvPr/>
        </p:nvCxnSpPr>
        <p:spPr>
          <a:xfrm flipV="1">
            <a:off x="1070027" y="3119021"/>
            <a:ext cx="1273212" cy="99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7CF9ADD6-CBBB-DACD-3B28-71EDAA2C9C1D}"/>
              </a:ext>
            </a:extLst>
          </p:cNvPr>
          <p:cNvCxnSpPr>
            <a:cxnSpLocks/>
          </p:cNvCxnSpPr>
          <p:nvPr/>
        </p:nvCxnSpPr>
        <p:spPr>
          <a:xfrm>
            <a:off x="3615152" y="3128999"/>
            <a:ext cx="673618" cy="62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FFD7791B-3FC0-2ECF-67BD-7666FADE10A9}"/>
              </a:ext>
            </a:extLst>
          </p:cNvPr>
          <p:cNvSpPr txBox="1"/>
          <p:nvPr/>
        </p:nvSpPr>
        <p:spPr>
          <a:xfrm>
            <a:off x="5106672" y="4098145"/>
            <a:ext cx="1832370" cy="253916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1050" b="1" dirty="0"/>
              <a:t>(CI/CD) DAB pipeline</a:t>
            </a:r>
            <a:endParaRPr lang="en-GB" dirty="0"/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1D96D1E8-CDC5-C340-7841-506B1D1FABED}"/>
              </a:ext>
            </a:extLst>
          </p:cNvPr>
          <p:cNvSpPr/>
          <p:nvPr/>
        </p:nvSpPr>
        <p:spPr>
          <a:xfrm flipV="1">
            <a:off x="1502422" y="2631024"/>
            <a:ext cx="8461079" cy="1054145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80D599A-A938-D580-6020-3BB0703A5F84}"/>
              </a:ext>
            </a:extLst>
          </p:cNvPr>
          <p:cNvSpPr/>
          <p:nvPr/>
        </p:nvSpPr>
        <p:spPr>
          <a:xfrm>
            <a:off x="6231778" y="2875909"/>
            <a:ext cx="1273212" cy="47375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Transform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732509C-A2BC-E452-048C-BF4544814F2F}"/>
              </a:ext>
            </a:extLst>
          </p:cNvPr>
          <p:cNvSpPr/>
          <p:nvPr/>
        </p:nvSpPr>
        <p:spPr>
          <a:xfrm>
            <a:off x="4313938" y="2848033"/>
            <a:ext cx="1273212" cy="47375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Clean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C9C1773-46D9-CC5C-BAFC-362017955BEE}"/>
              </a:ext>
            </a:extLst>
          </p:cNvPr>
          <p:cNvCxnSpPr>
            <a:cxnSpLocks/>
          </p:cNvCxnSpPr>
          <p:nvPr/>
        </p:nvCxnSpPr>
        <p:spPr>
          <a:xfrm>
            <a:off x="5587433" y="3102452"/>
            <a:ext cx="673618" cy="62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3C0503A-936A-4495-8942-DC948557B8D1}"/>
              </a:ext>
            </a:extLst>
          </p:cNvPr>
          <p:cNvCxnSpPr/>
          <p:nvPr/>
        </p:nvCxnSpPr>
        <p:spPr>
          <a:xfrm>
            <a:off x="7521035" y="3084910"/>
            <a:ext cx="673618" cy="62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2A1E7A05-1757-C582-04E4-5C955E98B40A}"/>
              </a:ext>
            </a:extLst>
          </p:cNvPr>
          <p:cNvSpPr/>
          <p:nvPr/>
        </p:nvSpPr>
        <p:spPr>
          <a:xfrm>
            <a:off x="8210698" y="2875909"/>
            <a:ext cx="1273212" cy="47375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Load (Destination)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A8DFD85-C51B-3272-BFB1-26725D032E56}"/>
              </a:ext>
            </a:extLst>
          </p:cNvPr>
          <p:cNvCxnSpPr>
            <a:cxnSpLocks/>
          </p:cNvCxnSpPr>
          <p:nvPr/>
        </p:nvCxnSpPr>
        <p:spPr>
          <a:xfrm flipV="1">
            <a:off x="1502422" y="4320547"/>
            <a:ext cx="8609876" cy="168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CF1481E-3BEE-CFAF-7DCB-F8235249F29B}"/>
              </a:ext>
            </a:extLst>
          </p:cNvPr>
          <p:cNvCxnSpPr>
            <a:cxnSpLocks/>
          </p:cNvCxnSpPr>
          <p:nvPr/>
        </p:nvCxnSpPr>
        <p:spPr>
          <a:xfrm flipV="1">
            <a:off x="9476942" y="3084909"/>
            <a:ext cx="1030211" cy="152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30" name="Picture 6">
            <a:extLst>
              <a:ext uri="{FF2B5EF4-FFF2-40B4-BE49-F238E27FC236}">
                <a16:creationId xmlns:a16="http://schemas.microsoft.com/office/drawing/2014/main" id="{8575B2EE-7E09-F0B3-E2DD-F04E76A1DB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6014" y="2120281"/>
            <a:ext cx="897774" cy="471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Power BI Logo, symbol, meaning, history, PNG, brand">
            <a:extLst>
              <a:ext uri="{FF2B5EF4-FFF2-40B4-BE49-F238E27FC236}">
                <a16:creationId xmlns:a16="http://schemas.microsoft.com/office/drawing/2014/main" id="{29DE0D09-E2DB-B31A-07E2-AE2A643D44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6871" y="2686679"/>
            <a:ext cx="1137385" cy="6397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4ADDA0C8-7462-5EBB-E21A-7D4562966D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06443" y="3724581"/>
            <a:ext cx="855979" cy="3309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Azure Blob Storage vs Azure Data Lake Storage Gen 2 ...">
            <a:extLst>
              <a:ext uri="{FF2B5EF4-FFF2-40B4-BE49-F238E27FC236}">
                <a16:creationId xmlns:a16="http://schemas.microsoft.com/office/drawing/2014/main" id="{636FFCBC-B36F-D163-7CB9-1F116503AF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271" y="2339020"/>
            <a:ext cx="963388" cy="5057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Api Logo Images – Browse 6,619 Stock Photos, Vectors, and ...">
            <a:extLst>
              <a:ext uri="{FF2B5EF4-FFF2-40B4-BE49-F238E27FC236}">
                <a16:creationId xmlns:a16="http://schemas.microsoft.com/office/drawing/2014/main" id="{E31BD910-3320-2B02-A92A-D7953EE44F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523" y="3092516"/>
            <a:ext cx="690885" cy="6908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File folder - Free files and folders icons">
            <a:extLst>
              <a:ext uri="{FF2B5EF4-FFF2-40B4-BE49-F238E27FC236}">
                <a16:creationId xmlns:a16="http://schemas.microsoft.com/office/drawing/2014/main" id="{576A3932-DBB6-FBDA-E605-EABE25524E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524" y="3860453"/>
            <a:ext cx="526990" cy="526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microsoft-azure-devops-logo - TechAir">
            <a:extLst>
              <a:ext uri="{FF2B5EF4-FFF2-40B4-BE49-F238E27FC236}">
                <a16:creationId xmlns:a16="http://schemas.microsoft.com/office/drawing/2014/main" id="{2A8B8081-5E93-AF38-4C06-CE6D4A5604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443" y="3918880"/>
            <a:ext cx="1151661" cy="6909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DDAADEF5-0058-EF50-7DE9-E9A98894A3DE}"/>
              </a:ext>
            </a:extLst>
          </p:cNvPr>
          <p:cNvCxnSpPr>
            <a:cxnSpLocks/>
          </p:cNvCxnSpPr>
          <p:nvPr/>
        </p:nvCxnSpPr>
        <p:spPr>
          <a:xfrm flipV="1">
            <a:off x="9499955" y="2120281"/>
            <a:ext cx="895941" cy="8601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" name="Rectangle 56">
            <a:extLst>
              <a:ext uri="{FF2B5EF4-FFF2-40B4-BE49-F238E27FC236}">
                <a16:creationId xmlns:a16="http://schemas.microsoft.com/office/drawing/2014/main" id="{BAA192CE-9749-DFFA-077D-B8888D678D5B}"/>
              </a:ext>
            </a:extLst>
          </p:cNvPr>
          <p:cNvSpPr/>
          <p:nvPr/>
        </p:nvSpPr>
        <p:spPr>
          <a:xfrm>
            <a:off x="10411941" y="1691648"/>
            <a:ext cx="1273212" cy="47375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Consumers </a:t>
            </a:r>
            <a:r>
              <a:rPr lang="en-US" sz="900" dirty="0" err="1">
                <a:solidFill>
                  <a:schemeClr val="tx1"/>
                </a:solidFill>
              </a:rPr>
              <a:t>worklfow</a:t>
            </a:r>
            <a:r>
              <a:rPr lang="en-US" sz="900" dirty="0">
                <a:solidFill>
                  <a:schemeClr val="tx1"/>
                </a:solidFill>
              </a:rPr>
              <a:t>/tables</a:t>
            </a:r>
          </a:p>
        </p:txBody>
      </p:sp>
      <p:pic>
        <p:nvPicPr>
          <p:cNvPr id="1044" name="Picture 20" descr="Database Icon or Logo in Modern Line Style Stock Vector ...">
            <a:extLst>
              <a:ext uri="{FF2B5EF4-FFF2-40B4-BE49-F238E27FC236}">
                <a16:creationId xmlns:a16="http://schemas.microsoft.com/office/drawing/2014/main" id="{321E6A70-40B0-C6F6-20F6-AEC4ED5193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558" y="1339223"/>
            <a:ext cx="704850" cy="704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1EB646E3-294A-3489-5D3E-3950C2670803}"/>
              </a:ext>
            </a:extLst>
          </p:cNvPr>
          <p:cNvSpPr txBox="1"/>
          <p:nvPr/>
        </p:nvSpPr>
        <p:spPr>
          <a:xfrm>
            <a:off x="4313938" y="939113"/>
            <a:ext cx="2850070" cy="400110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2000" b="1" dirty="0"/>
              <a:t>Architecture Design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41778104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042BA7-6986-145A-2432-AF398904A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F1BB0C8-5D04-FCB3-06A5-FD4E4DD3827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38" y="50800"/>
            <a:ext cx="11990123" cy="6659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95533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FA1C36-F7C5-1671-1E54-877DB72C5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CE807AE4-BA0B-53BB-07E8-1C86284C32A2}"/>
              </a:ext>
            </a:extLst>
          </p:cNvPr>
          <p:cNvCxnSpPr/>
          <p:nvPr/>
        </p:nvCxnSpPr>
        <p:spPr>
          <a:xfrm flipH="1">
            <a:off x="8764825" y="3370203"/>
            <a:ext cx="2111" cy="12440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Cylinder 5">
            <a:extLst>
              <a:ext uri="{FF2B5EF4-FFF2-40B4-BE49-F238E27FC236}">
                <a16:creationId xmlns:a16="http://schemas.microsoft.com/office/drawing/2014/main" id="{B3F0A5F1-A900-3267-11FA-9501C73F3A12}"/>
              </a:ext>
            </a:extLst>
          </p:cNvPr>
          <p:cNvSpPr/>
          <p:nvPr/>
        </p:nvSpPr>
        <p:spPr>
          <a:xfrm>
            <a:off x="3388089" y="2817846"/>
            <a:ext cx="690588" cy="550438"/>
          </a:xfrm>
          <a:prstGeom prst="ca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900" b="1" dirty="0">
                <a:solidFill>
                  <a:schemeClr val="tx1"/>
                </a:solidFill>
              </a:rPr>
              <a:t>signals</a:t>
            </a:r>
            <a:endParaRPr lang="en-US" sz="900" b="1" dirty="0">
              <a:solidFill>
                <a:schemeClr val="tx1"/>
              </a:solidFill>
            </a:endParaRPr>
          </a:p>
        </p:txBody>
      </p:sp>
      <p:sp>
        <p:nvSpPr>
          <p:cNvPr id="16" name="Cylinder 15">
            <a:extLst>
              <a:ext uri="{FF2B5EF4-FFF2-40B4-BE49-F238E27FC236}">
                <a16:creationId xmlns:a16="http://schemas.microsoft.com/office/drawing/2014/main" id="{F5F65C0E-F5EF-7376-E41A-114FE077D53E}"/>
              </a:ext>
            </a:extLst>
          </p:cNvPr>
          <p:cNvSpPr/>
          <p:nvPr/>
        </p:nvSpPr>
        <p:spPr>
          <a:xfrm>
            <a:off x="6723864" y="2878644"/>
            <a:ext cx="690588" cy="550438"/>
          </a:xfrm>
          <a:prstGeom prst="ca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900" b="1" dirty="0">
                <a:solidFill>
                  <a:schemeClr val="tx1"/>
                </a:solidFill>
              </a:rPr>
              <a:t>queue</a:t>
            </a:r>
            <a:endParaRPr lang="en-US" sz="900" b="1" dirty="0">
              <a:solidFill>
                <a:schemeClr val="tx1"/>
              </a:solidFill>
            </a:endParaRPr>
          </a:p>
        </p:txBody>
      </p:sp>
      <p:sp>
        <p:nvSpPr>
          <p:cNvPr id="17" name="Cylinder 16">
            <a:extLst>
              <a:ext uri="{FF2B5EF4-FFF2-40B4-BE49-F238E27FC236}">
                <a16:creationId xmlns:a16="http://schemas.microsoft.com/office/drawing/2014/main" id="{21DCC17C-D20D-5C79-628F-BFC6E40C6512}"/>
              </a:ext>
            </a:extLst>
          </p:cNvPr>
          <p:cNvSpPr/>
          <p:nvPr/>
        </p:nvSpPr>
        <p:spPr>
          <a:xfrm>
            <a:off x="5126908" y="1970729"/>
            <a:ext cx="690588" cy="550438"/>
          </a:xfrm>
          <a:prstGeom prst="ca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900" b="1" dirty="0">
                <a:solidFill>
                  <a:schemeClr val="tx1"/>
                </a:solidFill>
              </a:rPr>
              <a:t>triggers</a:t>
            </a:r>
            <a:endParaRPr lang="en-US" sz="900" b="1" dirty="0">
              <a:solidFill>
                <a:schemeClr val="tx1"/>
              </a:solidFill>
            </a:endParaRPr>
          </a:p>
        </p:txBody>
      </p:sp>
      <p:sp>
        <p:nvSpPr>
          <p:cNvPr id="18" name="Cylinder 17">
            <a:extLst>
              <a:ext uri="{FF2B5EF4-FFF2-40B4-BE49-F238E27FC236}">
                <a16:creationId xmlns:a16="http://schemas.microsoft.com/office/drawing/2014/main" id="{447B422B-BF2E-E826-0F9A-D6BA2C800C8C}"/>
              </a:ext>
            </a:extLst>
          </p:cNvPr>
          <p:cNvSpPr/>
          <p:nvPr/>
        </p:nvSpPr>
        <p:spPr>
          <a:xfrm>
            <a:off x="10160972" y="2878645"/>
            <a:ext cx="690588" cy="550438"/>
          </a:xfrm>
          <a:prstGeom prst="ca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900" b="1" dirty="0">
                <a:solidFill>
                  <a:schemeClr val="tx1"/>
                </a:solidFill>
              </a:rPr>
              <a:t>executed</a:t>
            </a:r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19" name="Cylinder 18">
            <a:extLst>
              <a:ext uri="{FF2B5EF4-FFF2-40B4-BE49-F238E27FC236}">
                <a16:creationId xmlns:a16="http://schemas.microsoft.com/office/drawing/2014/main" id="{59C62BE4-BD15-5603-CBDE-AA117DC8B040}"/>
              </a:ext>
            </a:extLst>
          </p:cNvPr>
          <p:cNvSpPr/>
          <p:nvPr/>
        </p:nvSpPr>
        <p:spPr>
          <a:xfrm>
            <a:off x="3388088" y="1002016"/>
            <a:ext cx="690588" cy="550438"/>
          </a:xfrm>
          <a:prstGeom prst="ca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900" b="1" dirty="0">
                <a:solidFill>
                  <a:schemeClr val="tx1"/>
                </a:solidFill>
              </a:rPr>
              <a:t>files</a:t>
            </a:r>
            <a:endParaRPr lang="en-US" sz="900">
              <a:solidFill>
                <a:schemeClr val="tx1"/>
              </a:solidFill>
            </a:endParaRPr>
          </a:p>
        </p:txBody>
      </p:sp>
      <p:sp>
        <p:nvSpPr>
          <p:cNvPr id="20" name="Cylinder 19">
            <a:extLst>
              <a:ext uri="{FF2B5EF4-FFF2-40B4-BE49-F238E27FC236}">
                <a16:creationId xmlns:a16="http://schemas.microsoft.com/office/drawing/2014/main" id="{B0FAE7FF-F00F-C4F2-FD5E-57CF82605986}"/>
              </a:ext>
            </a:extLst>
          </p:cNvPr>
          <p:cNvSpPr/>
          <p:nvPr/>
        </p:nvSpPr>
        <p:spPr>
          <a:xfrm>
            <a:off x="3388088" y="1909931"/>
            <a:ext cx="690588" cy="550438"/>
          </a:xfrm>
          <a:prstGeom prst="ca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800" b="1" dirty="0">
                <a:solidFill>
                  <a:schemeClr val="tx1"/>
                </a:solidFill>
              </a:rPr>
              <a:t>watermark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DE77A802-5748-3A4F-BF4E-61D8A99FF29B}"/>
              </a:ext>
            </a:extLst>
          </p:cNvPr>
          <p:cNvSpPr/>
          <p:nvPr/>
        </p:nvSpPr>
        <p:spPr>
          <a:xfrm>
            <a:off x="3111314" y="777382"/>
            <a:ext cx="8007836" cy="2937798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0A57266-E01A-4F2D-5315-108C18DDF4EA}"/>
              </a:ext>
            </a:extLst>
          </p:cNvPr>
          <p:cNvSpPr/>
          <p:nvPr/>
        </p:nvSpPr>
        <p:spPr>
          <a:xfrm>
            <a:off x="4759765" y="2881815"/>
            <a:ext cx="1273212" cy="47375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000" b="1" dirty="0">
                <a:solidFill>
                  <a:schemeClr val="tx1"/>
                </a:solidFill>
              </a:rPr>
              <a:t>Evaluator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49D2B69-3F95-08B1-C49D-E32117A673A8}"/>
              </a:ext>
            </a:extLst>
          </p:cNvPr>
          <p:cNvSpPr/>
          <p:nvPr/>
        </p:nvSpPr>
        <p:spPr>
          <a:xfrm>
            <a:off x="8123914" y="2918293"/>
            <a:ext cx="1273212" cy="47375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000" b="1" dirty="0">
                <a:solidFill>
                  <a:schemeClr val="tx1"/>
                </a:solidFill>
              </a:rPr>
              <a:t>Evaluator</a:t>
            </a:r>
            <a:endParaRPr lang="en-US" sz="1000" dirty="0">
              <a:solidFill>
                <a:schemeClr val="tx1"/>
              </a:solidFill>
            </a:endParaRPr>
          </a:p>
        </p:txBody>
      </p: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E7AAE40F-1588-F45A-EBC0-3A7AF0579789}"/>
              </a:ext>
            </a:extLst>
          </p:cNvPr>
          <p:cNvCxnSpPr/>
          <p:nvPr/>
        </p:nvCxnSpPr>
        <p:spPr>
          <a:xfrm>
            <a:off x="1644250" y="2143644"/>
            <a:ext cx="1740156" cy="960805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0EAE14B0-775A-9F59-9728-D3599D0278FD}"/>
              </a:ext>
            </a:extLst>
          </p:cNvPr>
          <p:cNvCxnSpPr/>
          <p:nvPr/>
        </p:nvCxnSpPr>
        <p:spPr>
          <a:xfrm>
            <a:off x="4087746" y="3116581"/>
            <a:ext cx="673618" cy="62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8226773-F955-26F5-7B21-F1CFDCD416BC}"/>
              </a:ext>
            </a:extLst>
          </p:cNvPr>
          <p:cNvCxnSpPr>
            <a:cxnSpLocks/>
          </p:cNvCxnSpPr>
          <p:nvPr/>
        </p:nvCxnSpPr>
        <p:spPr>
          <a:xfrm>
            <a:off x="6033277" y="3132793"/>
            <a:ext cx="673618" cy="62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B061F81C-19F0-4305-C6A8-5B4A340C33FE}"/>
              </a:ext>
            </a:extLst>
          </p:cNvPr>
          <p:cNvCxnSpPr>
            <a:cxnSpLocks/>
          </p:cNvCxnSpPr>
          <p:nvPr/>
        </p:nvCxnSpPr>
        <p:spPr>
          <a:xfrm>
            <a:off x="7427576" y="3136846"/>
            <a:ext cx="701990" cy="21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805DE4D-8791-015B-12B9-D515C3F88F01}"/>
              </a:ext>
            </a:extLst>
          </p:cNvPr>
          <p:cNvCxnSpPr>
            <a:cxnSpLocks/>
          </p:cNvCxnSpPr>
          <p:nvPr/>
        </p:nvCxnSpPr>
        <p:spPr>
          <a:xfrm>
            <a:off x="1704469" y="2139762"/>
            <a:ext cx="1678809" cy="102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C60D72C9-EEE9-FE5E-CBF3-A4D570150F15}"/>
              </a:ext>
            </a:extLst>
          </p:cNvPr>
          <p:cNvCxnSpPr>
            <a:cxnSpLocks/>
          </p:cNvCxnSpPr>
          <p:nvPr/>
        </p:nvCxnSpPr>
        <p:spPr>
          <a:xfrm flipV="1">
            <a:off x="9397426" y="3139026"/>
            <a:ext cx="762787" cy="18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5DB38BE0-5183-77B3-7F49-5352D6941FD5}"/>
              </a:ext>
            </a:extLst>
          </p:cNvPr>
          <p:cNvCxnSpPr/>
          <p:nvPr/>
        </p:nvCxnSpPr>
        <p:spPr>
          <a:xfrm>
            <a:off x="2514191" y="1234556"/>
            <a:ext cx="870326" cy="86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9447487F-35EC-4429-7198-52C8B6FFFDF0}"/>
              </a:ext>
            </a:extLst>
          </p:cNvPr>
          <p:cNvCxnSpPr/>
          <p:nvPr/>
        </p:nvCxnSpPr>
        <p:spPr>
          <a:xfrm>
            <a:off x="2518436" y="1237372"/>
            <a:ext cx="1943" cy="907145"/>
          </a:xfrm>
          <a:prstGeom prst="straightConnector1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42876116-A084-44A6-4FFA-0986441D4BC8}"/>
              </a:ext>
            </a:extLst>
          </p:cNvPr>
          <p:cNvCxnSpPr/>
          <p:nvPr/>
        </p:nvCxnSpPr>
        <p:spPr>
          <a:xfrm>
            <a:off x="5440444" y="2521742"/>
            <a:ext cx="2645" cy="3614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0160F4BA-81B9-4B7B-27F8-D447D2FE1C70}"/>
              </a:ext>
            </a:extLst>
          </p:cNvPr>
          <p:cNvSpPr txBox="1"/>
          <p:nvPr/>
        </p:nvSpPr>
        <p:spPr>
          <a:xfrm>
            <a:off x="8005558" y="3920732"/>
            <a:ext cx="1832370" cy="253916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050" b="1" dirty="0"/>
              <a:t>publish file (trigger file)</a:t>
            </a:r>
            <a:endParaRPr lang="en-GB" dirty="0"/>
          </a:p>
        </p:txBody>
      </p:sp>
      <p:sp>
        <p:nvSpPr>
          <p:cNvPr id="43" name="Cylinder 42">
            <a:extLst>
              <a:ext uri="{FF2B5EF4-FFF2-40B4-BE49-F238E27FC236}">
                <a16:creationId xmlns:a16="http://schemas.microsoft.com/office/drawing/2014/main" id="{D28F12C9-52A7-DE1D-8224-6B9BF8F229D3}"/>
              </a:ext>
            </a:extLst>
          </p:cNvPr>
          <p:cNvSpPr/>
          <p:nvPr/>
        </p:nvSpPr>
        <p:spPr>
          <a:xfrm>
            <a:off x="8468026" y="4643822"/>
            <a:ext cx="640489" cy="837880"/>
          </a:xfrm>
          <a:prstGeom prst="ca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050" b="1" dirty="0"/>
              <a:t>target</a:t>
            </a:r>
          </a:p>
          <a:p>
            <a:pPr algn="ctr"/>
            <a:r>
              <a:rPr lang="en-GB" sz="1050" b="1" dirty="0"/>
              <a:t>volume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77B2ECC2-B766-B470-BFED-BCDAA703C12C}"/>
              </a:ext>
            </a:extLst>
          </p:cNvPr>
          <p:cNvSpPr/>
          <p:nvPr/>
        </p:nvSpPr>
        <p:spPr>
          <a:xfrm flipV="1">
            <a:off x="3208591" y="4379904"/>
            <a:ext cx="6187952" cy="1362637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14B0A5EC-1C9A-E172-D0EF-537BC0A89B33}"/>
              </a:ext>
            </a:extLst>
          </p:cNvPr>
          <p:cNvSpPr/>
          <p:nvPr/>
        </p:nvSpPr>
        <p:spPr>
          <a:xfrm>
            <a:off x="6186337" y="4763561"/>
            <a:ext cx="1509942" cy="29174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950" b="1" dirty="0" err="1"/>
              <a:t>train_dataset_trigger</a:t>
            </a:r>
            <a:endParaRPr lang="en-GB" sz="950" b="1" dirty="0"/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A20C729F-9EB7-D9CC-52D4-CF093256A764}"/>
              </a:ext>
            </a:extLst>
          </p:cNvPr>
          <p:cNvSpPr/>
          <p:nvPr/>
        </p:nvSpPr>
        <p:spPr>
          <a:xfrm>
            <a:off x="6182286" y="5136453"/>
            <a:ext cx="1522099" cy="29174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950" b="1" dirty="0" err="1"/>
              <a:t>consumer_trigger</a:t>
            </a:r>
            <a:endParaRPr lang="en-GB" sz="950" b="1" dirty="0"/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D2C195B1-47C4-3359-A18F-8890499C96A7}"/>
              </a:ext>
            </a:extLst>
          </p:cNvPr>
          <p:cNvCxnSpPr>
            <a:cxnSpLocks/>
          </p:cNvCxnSpPr>
          <p:nvPr/>
        </p:nvCxnSpPr>
        <p:spPr>
          <a:xfrm flipH="1" flipV="1">
            <a:off x="7703377" y="5237805"/>
            <a:ext cx="765117" cy="14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E9946E4D-E9E3-D4BE-7E18-8784943B0D83}"/>
              </a:ext>
            </a:extLst>
          </p:cNvPr>
          <p:cNvCxnSpPr>
            <a:cxnSpLocks/>
          </p:cNvCxnSpPr>
          <p:nvPr/>
        </p:nvCxnSpPr>
        <p:spPr>
          <a:xfrm flipH="1">
            <a:off x="7695272" y="4890638"/>
            <a:ext cx="765114" cy="66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C5038697-F26C-0076-F873-E914B1AD5F1A}"/>
              </a:ext>
            </a:extLst>
          </p:cNvPr>
          <p:cNvSpPr txBox="1"/>
          <p:nvPr/>
        </p:nvSpPr>
        <p:spPr>
          <a:xfrm>
            <a:off x="1965073" y="2508154"/>
            <a:ext cx="1146241" cy="400110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000" b="1" dirty="0">
                <a:solidFill>
                  <a:srgbClr val="000000"/>
                </a:solidFill>
              </a:rPr>
              <a:t>publish signals</a:t>
            </a:r>
          </a:p>
          <a:p>
            <a:r>
              <a:rPr lang="en-GB" sz="1000" b="1" dirty="0">
                <a:solidFill>
                  <a:srgbClr val="000000"/>
                </a:solidFill>
              </a:rPr>
              <a:t>(File Arrived)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18407087-B9FE-1014-2B5E-72359C4CE288}"/>
              </a:ext>
            </a:extLst>
          </p:cNvPr>
          <p:cNvSpPr/>
          <p:nvPr/>
        </p:nvSpPr>
        <p:spPr>
          <a:xfrm>
            <a:off x="3466645" y="4763561"/>
            <a:ext cx="1513995" cy="29174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950" b="1" dirty="0"/>
              <a:t>training </a:t>
            </a:r>
            <a:r>
              <a:rPr lang="en-GB" sz="950" b="1" dirty="0" err="1"/>
              <a:t>worflows</a:t>
            </a:r>
            <a:r>
              <a:rPr lang="en-GB" sz="950" b="1" dirty="0"/>
              <a:t>…</a:t>
            </a:r>
            <a:endParaRPr lang="en-US" dirty="0"/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F3703D0D-6B65-AE19-D06E-4EAA8A7352A4}"/>
              </a:ext>
            </a:extLst>
          </p:cNvPr>
          <p:cNvSpPr/>
          <p:nvPr/>
        </p:nvSpPr>
        <p:spPr>
          <a:xfrm>
            <a:off x="3466647" y="5136453"/>
            <a:ext cx="1522099" cy="29174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950" b="1" dirty="0"/>
              <a:t>consumer  workflows…</a:t>
            </a:r>
            <a:endParaRPr lang="en-US" dirty="0"/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7D0CC121-84F8-8989-AEBF-DC03BC80C89D}"/>
              </a:ext>
            </a:extLst>
          </p:cNvPr>
          <p:cNvCxnSpPr>
            <a:cxnSpLocks/>
          </p:cNvCxnSpPr>
          <p:nvPr/>
        </p:nvCxnSpPr>
        <p:spPr>
          <a:xfrm flipH="1">
            <a:off x="4987738" y="5239212"/>
            <a:ext cx="1194756" cy="26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8B91FB00-6DB4-BB90-515F-0C5B836B2C58}"/>
              </a:ext>
            </a:extLst>
          </p:cNvPr>
          <p:cNvCxnSpPr>
            <a:cxnSpLocks/>
          </p:cNvCxnSpPr>
          <p:nvPr/>
        </p:nvCxnSpPr>
        <p:spPr>
          <a:xfrm flipH="1">
            <a:off x="4983684" y="4898743"/>
            <a:ext cx="1186648" cy="26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F38D09AA-4B1E-9E66-47B3-FBB4915DEB43}"/>
              </a:ext>
            </a:extLst>
          </p:cNvPr>
          <p:cNvCxnSpPr/>
          <p:nvPr/>
        </p:nvCxnSpPr>
        <p:spPr>
          <a:xfrm flipV="1">
            <a:off x="3705925" y="3396465"/>
            <a:ext cx="2432" cy="13634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76ACC3C2-57D4-D9D3-A767-9828825BB724}"/>
              </a:ext>
            </a:extLst>
          </p:cNvPr>
          <p:cNvSpPr txBox="1"/>
          <p:nvPr/>
        </p:nvSpPr>
        <p:spPr>
          <a:xfrm>
            <a:off x="4989981" y="4520604"/>
            <a:ext cx="1179806" cy="246221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000" b="1" dirty="0"/>
              <a:t>file arrival trigger</a:t>
            </a:r>
            <a:endParaRPr lang="en-GB" sz="10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ED2ACC4-5A77-877F-B653-0046190BA4F0}"/>
              </a:ext>
            </a:extLst>
          </p:cNvPr>
          <p:cNvSpPr/>
          <p:nvPr/>
        </p:nvSpPr>
        <p:spPr>
          <a:xfrm>
            <a:off x="625356" y="1630443"/>
            <a:ext cx="1303230" cy="88756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100" b="1" dirty="0">
                <a:solidFill>
                  <a:srgbClr val="000000"/>
                </a:solidFill>
              </a:rPr>
              <a:t>File Arrival Signal Workflow</a:t>
            </a:r>
          </a:p>
          <a:p>
            <a:pPr algn="ctr"/>
            <a:r>
              <a:rPr lang="en-GB" sz="1100" b="1" dirty="0"/>
              <a:t>(runs every </a:t>
            </a:r>
          </a:p>
          <a:p>
            <a:pPr algn="ctr"/>
            <a:r>
              <a:rPr lang="en-GB" sz="1100" b="1" dirty="0"/>
              <a:t>2 mins)</a:t>
            </a:r>
            <a:endParaRPr lang="en-GB" dirty="0"/>
          </a:p>
        </p:txBody>
      </p:sp>
      <p:sp>
        <p:nvSpPr>
          <p:cNvPr id="4" name="Arrow: U-Turn 3">
            <a:extLst>
              <a:ext uri="{FF2B5EF4-FFF2-40B4-BE49-F238E27FC236}">
                <a16:creationId xmlns:a16="http://schemas.microsoft.com/office/drawing/2014/main" id="{17C8047E-B21B-EBDA-F12E-0DCAAA5F6717}"/>
              </a:ext>
            </a:extLst>
          </p:cNvPr>
          <p:cNvSpPr/>
          <p:nvPr/>
        </p:nvSpPr>
        <p:spPr>
          <a:xfrm rot="5400000">
            <a:off x="1853542" y="1636729"/>
            <a:ext cx="274319" cy="274320"/>
          </a:xfrm>
          <a:prstGeom prst="uturnArrow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518A99-70E9-8132-03C0-715EAA4E8BD3}"/>
              </a:ext>
            </a:extLst>
          </p:cNvPr>
          <p:cNvSpPr txBox="1"/>
          <p:nvPr/>
        </p:nvSpPr>
        <p:spPr>
          <a:xfrm>
            <a:off x="3056628" y="3847583"/>
            <a:ext cx="1608306" cy="4001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000" b="1" dirty="0"/>
              <a:t>publish signals </a:t>
            </a:r>
            <a:endParaRPr lang="en-US" dirty="0"/>
          </a:p>
          <a:p>
            <a:r>
              <a:rPr lang="en-GB" sz="1000" b="1" dirty="0"/>
              <a:t>(workflow completion)</a:t>
            </a:r>
            <a:endParaRPr lang="en-GB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F771197-B2F9-95F3-2724-7757FBBAD38D}"/>
              </a:ext>
            </a:extLst>
          </p:cNvPr>
          <p:cNvSpPr txBox="1"/>
          <p:nvPr/>
        </p:nvSpPr>
        <p:spPr>
          <a:xfrm>
            <a:off x="6087918" y="155262"/>
            <a:ext cx="1841962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sz="2000" b="1" dirty="0">
                <a:solidFill>
                  <a:srgbClr val="000000"/>
                </a:solidFill>
              </a:rPr>
              <a:t>Orchestrator</a:t>
            </a:r>
          </a:p>
        </p:txBody>
      </p:sp>
    </p:spTree>
    <p:extLst>
      <p:ext uri="{BB962C8B-B14F-4D97-AF65-F5344CB8AC3E}">
        <p14:creationId xmlns:p14="http://schemas.microsoft.com/office/powerpoint/2010/main" val="20447438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1BEBD9FACC8D54BA9DB90289F74DA81" ma:contentTypeVersion="11" ma:contentTypeDescription="Create a new document." ma:contentTypeScope="" ma:versionID="80e0c4804a7f257608529fe5db3d3cc4">
  <xsd:schema xmlns:xsd="http://www.w3.org/2001/XMLSchema" xmlns:xs="http://www.w3.org/2001/XMLSchema" xmlns:p="http://schemas.microsoft.com/office/2006/metadata/properties" xmlns:ns3="94dbcb37-8088-4e59-ac83-86355f6c3be1" targetNamespace="http://schemas.microsoft.com/office/2006/metadata/properties" ma:root="true" ma:fieldsID="9a3096970e0103c09134c2ee5e7140b8" ns3:_="">
    <xsd:import namespace="94dbcb37-8088-4e59-ac83-86355f6c3be1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4dbcb37-8088-4e59-ac83-86355f6c3be1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4dbcb37-8088-4e59-ac83-86355f6c3be1" xsi:nil="true"/>
  </documentManagement>
</p:properties>
</file>

<file path=customXml/itemProps1.xml><?xml version="1.0" encoding="utf-8"?>
<ds:datastoreItem xmlns:ds="http://schemas.openxmlformats.org/officeDocument/2006/customXml" ds:itemID="{93E9A2F7-8DAE-44C3-8E20-B9A5476F70C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4dbcb37-8088-4e59-ac83-86355f6c3be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BBCDF45-02E0-4A3A-8DBA-BF8FA971D67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CCAA61A-0764-4309-B345-8036DC3A10E2}">
  <ds:schemaRefs>
    <ds:schemaRef ds:uri="http://purl.org/dc/terms/"/>
    <ds:schemaRef ds:uri="http://schemas.microsoft.com/office/2006/metadata/properties"/>
    <ds:schemaRef ds:uri="http://purl.org/dc/dcmitype/"/>
    <ds:schemaRef ds:uri="http://schemas.openxmlformats.org/package/2006/metadata/core-properties"/>
    <ds:schemaRef ds:uri="http://www.w3.org/XML/1998/namespace"/>
    <ds:schemaRef ds:uri="http://schemas.microsoft.com/office/2006/documentManagement/types"/>
    <ds:schemaRef ds:uri="http://schemas.microsoft.com/office/infopath/2007/PartnerControls"/>
    <ds:schemaRef ds:uri="94dbcb37-8088-4e59-ac83-86355f6c3be1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105</TotalTime>
  <Words>76</Words>
  <Application>Microsoft Office PowerPoint</Application>
  <PresentationFormat>Widescreen</PresentationFormat>
  <Paragraphs>31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Rojsun Parameshwaran</cp:lastModifiedBy>
  <cp:revision>461</cp:revision>
  <dcterms:created xsi:type="dcterms:W3CDTF">2025-11-05T11:24:25Z</dcterms:created>
  <dcterms:modified xsi:type="dcterms:W3CDTF">2025-12-30T14:07:50Z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2cf71fe-324a-4168-92d9-4bbd2fb479e7_Enabled">
    <vt:lpwstr>true</vt:lpwstr>
  </property>
  <property fmtid="{D5CDD505-2E9C-101B-9397-08002B2CF9AE}" pid="3" name="MSIP_Label_f2cf71fe-324a-4168-92d9-4bbd2fb479e7_SetDate">
    <vt:lpwstr>2025-11-05T11:24:51Z</vt:lpwstr>
  </property>
  <property fmtid="{D5CDD505-2E9C-101B-9397-08002B2CF9AE}" pid="4" name="MSIP_Label_f2cf71fe-324a-4168-92d9-4bbd2fb479e7_Method">
    <vt:lpwstr>Standard</vt:lpwstr>
  </property>
  <property fmtid="{D5CDD505-2E9C-101B-9397-08002B2CF9AE}" pid="5" name="MSIP_Label_f2cf71fe-324a-4168-92d9-4bbd2fb479e7_Name">
    <vt:lpwstr>Confidential - No Restrictions</vt:lpwstr>
  </property>
  <property fmtid="{D5CDD505-2E9C-101B-9397-08002B2CF9AE}" pid="6" name="MSIP_Label_f2cf71fe-324a-4168-92d9-4bbd2fb479e7_SiteId">
    <vt:lpwstr>f9daae82-4727-4163-93b9-2214828e3dba</vt:lpwstr>
  </property>
  <property fmtid="{D5CDD505-2E9C-101B-9397-08002B2CF9AE}" pid="7" name="MSIP_Label_f2cf71fe-324a-4168-92d9-4bbd2fb479e7_ActionId">
    <vt:lpwstr>863873b4-3a00-4487-b773-d9d52ecb5d55</vt:lpwstr>
  </property>
  <property fmtid="{D5CDD505-2E9C-101B-9397-08002B2CF9AE}" pid="8" name="MSIP_Label_f2cf71fe-324a-4168-92d9-4bbd2fb479e7_ContentBits">
    <vt:lpwstr>0</vt:lpwstr>
  </property>
  <property fmtid="{D5CDD505-2E9C-101B-9397-08002B2CF9AE}" pid="9" name="MSIP_Label_f2cf71fe-324a-4168-92d9-4bbd2fb479e7_Tag">
    <vt:lpwstr>10, 3, 0, 2</vt:lpwstr>
  </property>
  <property fmtid="{D5CDD505-2E9C-101B-9397-08002B2CF9AE}" pid="10" name="ContentTypeId">
    <vt:lpwstr>0x01010031BEBD9FACC8D54BA9DB90289F74DA81</vt:lpwstr>
  </property>
</Properties>
</file>